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76" r:id="rId7"/>
    <p:sldId id="277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71" r:id="rId17"/>
    <p:sldId id="272" r:id="rId18"/>
    <p:sldId id="273" r:id="rId19"/>
    <p:sldId id="275" r:id="rId20"/>
    <p:sldId id="278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Rg st="1" end="20"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2" autoAdjust="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117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FF3A8F-BBCE-416F-968C-BEF21EB5216A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44B103-370F-4BB2-A733-B6C337ECC0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5192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4B103-370F-4BB2-A733-B6C337ECC0A7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1576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1227978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74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447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511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599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142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273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921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301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310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2623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028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2326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5090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1037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468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243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398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sz="6600" b="1" dirty="0">
                <a:latin typeface="Angsana New" panose="02020503050405090304" pitchFamily="18" charset="-34"/>
                <a:cs typeface="Angsana New" panose="02020503050405090304" pitchFamily="18" charset="-34"/>
              </a:rPr>
              <a:t>Social Media Ad Performance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b="1" dirty="0">
                <a:latin typeface="Batang" panose="02030600000101010101" pitchFamily="18" charset="-127"/>
                <a:ea typeface="Batang" panose="02030600000101010101" pitchFamily="18" charset="-127"/>
              </a:rPr>
              <a:t>Power BI Dashboard Analysis</a:t>
            </a:r>
            <a:endParaRPr lang="en-IN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r>
              <a:rPr lang="en-IN" b="1" dirty="0">
                <a:latin typeface="Batang" panose="02030600000101010101" pitchFamily="18" charset="-127"/>
                <a:ea typeface="Batang" panose="02030600000101010101" pitchFamily="18" charset="-127"/>
              </a:rPr>
              <a:t>Prepared By – Rul Amin</a:t>
            </a:r>
          </a:p>
          <a:p>
            <a:r>
              <a:rPr lang="en-IN" b="1" dirty="0">
                <a:latin typeface="Batang" panose="02030600000101010101" pitchFamily="18" charset="-127"/>
                <a:ea typeface="Batang" panose="02030600000101010101" pitchFamily="18" charset="-127"/>
              </a:rPr>
              <a:t>Student code – AF05013597</a:t>
            </a:r>
            <a:endParaRPr b="1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911" y="1842911"/>
            <a:ext cx="7704667" cy="4191000"/>
          </a:xfrm>
        </p:spPr>
        <p:txBody>
          <a:bodyPr>
            <a:normAutofit lnSpcReduction="10000"/>
          </a:bodyPr>
          <a:lstStyle/>
          <a:p>
            <a:r>
              <a:rPr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Business Context &amp; Objectives</a:t>
            </a:r>
          </a:p>
          <a:p>
            <a:r>
              <a:rPr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Dashboard Overview</a:t>
            </a:r>
          </a:p>
          <a:p>
            <a:r>
              <a:rPr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KPI Performance Analysis</a:t>
            </a:r>
          </a:p>
          <a:p>
            <a:r>
              <a:rPr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Audience &amp; Engagement Insights</a:t>
            </a:r>
          </a:p>
          <a:p>
            <a:r>
              <a:rPr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Ad Type Analysis</a:t>
            </a:r>
          </a:p>
          <a:p>
            <a:r>
              <a:rPr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Key Findings &amp; Recommendations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Business</a:t>
            </a:r>
            <a:r>
              <a:rPr dirty="0"/>
              <a:t> </a:t>
            </a:r>
            <a:r>
              <a:rPr dirty="0">
                <a:latin typeface="Algerian" panose="04020705040A02060702" pitchFamily="82" charset="0"/>
              </a:rPr>
              <a:t>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Digital advertising campaigns executed on </a:t>
            </a:r>
            <a:r>
              <a:rPr lang="en-IN"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Social Media</a:t>
            </a:r>
            <a:r>
              <a:rPr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 platforms</a:t>
            </a:r>
          </a:p>
          <a:p>
            <a:r>
              <a:rPr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Objective: Drive awareness, engagement, and conversions</a:t>
            </a:r>
          </a:p>
          <a:p>
            <a:r>
              <a:rPr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Analysis performed using Power BI dashboard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266" y="180622"/>
            <a:ext cx="7704667" cy="1264356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Algerian" panose="04020705040A02060702" pitchFamily="82" charset="0"/>
              </a:rPr>
              <a:t>SOCIAL MEDIA</a:t>
            </a:r>
            <a:r>
              <a:rPr dirty="0">
                <a:latin typeface="Algerian" panose="04020705040A02060702" pitchFamily="82" charset="0"/>
              </a:rPr>
              <a:t> Ad Performance Dashboard – Overview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8151F0-245C-41B4-A24D-5C8BD57FF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488" y="1666594"/>
            <a:ext cx="8068734" cy="463984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KPI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2" y="2915355"/>
            <a:ext cx="7704667" cy="3332816"/>
          </a:xfrm>
        </p:spPr>
        <p:txBody>
          <a:bodyPr>
            <a:normAutofit fontScale="77500" lnSpcReduction="20000"/>
          </a:bodyPr>
          <a:lstStyle/>
          <a:p>
            <a:r>
              <a:rPr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Impressions:</a:t>
            </a:r>
            <a:r>
              <a:rPr lang="en-IN"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 -</a:t>
            </a:r>
            <a:r>
              <a:rPr lang="en-US"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Number of times ads were displayed -</a:t>
            </a:r>
            <a:r>
              <a:rPr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 (Strong reach)</a:t>
            </a:r>
          </a:p>
          <a:p>
            <a:r>
              <a:rPr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Clicks:</a:t>
            </a:r>
            <a:r>
              <a:rPr lang="en-IN"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- </a:t>
            </a:r>
            <a:r>
              <a:rPr lang="en-US"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Number of times users clicked ads</a:t>
            </a:r>
            <a:r>
              <a:rPr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 </a:t>
            </a:r>
            <a:endParaRPr lang="en-IN" sz="3600" dirty="0">
              <a:latin typeface="Angsana New" panose="02020503050405090304" pitchFamily="18" charset="-34"/>
              <a:cs typeface="Angsana New" panose="02020503050405090304" pitchFamily="18" charset="-34"/>
            </a:endParaRPr>
          </a:p>
          <a:p>
            <a:r>
              <a:rPr lang="en-IN"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Shares- </a:t>
            </a:r>
            <a:r>
              <a:rPr lang="en-US"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Number of times ads were shared.</a:t>
            </a:r>
            <a:endParaRPr lang="en-IN" sz="3600" dirty="0">
              <a:latin typeface="Angsana New" panose="02020503050405090304" pitchFamily="18" charset="-34"/>
              <a:cs typeface="Angsana New" panose="02020503050405090304" pitchFamily="18" charset="-34"/>
            </a:endParaRPr>
          </a:p>
          <a:p>
            <a:r>
              <a:rPr lang="en-US"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Comments - Number of user comments on ads.</a:t>
            </a:r>
          </a:p>
          <a:p>
            <a:r>
              <a:rPr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Purchases (Conversions):</a:t>
            </a:r>
            <a:r>
              <a:rPr lang="en-US"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Number of purchases made after seeing ads.</a:t>
            </a:r>
            <a:endParaRPr lang="en-IN" sz="3600" dirty="0">
              <a:latin typeface="Angsana New" panose="02020503050405090304" pitchFamily="18" charset="-34"/>
              <a:cs typeface="Angsana New" panose="02020503050405090304" pitchFamily="18" charset="-34"/>
            </a:endParaRPr>
          </a:p>
          <a:p>
            <a:r>
              <a:rPr lang="en-IN"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Engagement - Total interactions (Clicks + Shares + Comments).</a:t>
            </a:r>
            <a:endParaRPr sz="3600" dirty="0">
              <a:latin typeface="Angsana New" panose="02020503050405090304" pitchFamily="18" charset="-34"/>
              <a:cs typeface="Angsana New" panose="02020503050405090304" pitchFamily="18" charset="-34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C7EA16-53CB-4EEC-9C8F-7455A0CBD6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0000"/>
          <a:stretch/>
        </p:blipFill>
        <p:spPr>
          <a:xfrm>
            <a:off x="1069624" y="1879751"/>
            <a:ext cx="8074376" cy="79712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Efficiency Metrics</a:t>
            </a:r>
            <a:endParaRPr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2" y="2915354"/>
            <a:ext cx="7704667" cy="3745089"/>
          </a:xfrm>
        </p:spPr>
        <p:txBody>
          <a:bodyPr>
            <a:normAutofit fontScale="77500" lnSpcReduction="20000"/>
          </a:bodyPr>
          <a:lstStyle/>
          <a:p>
            <a:r>
              <a:rPr lang="en-IN"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CTR -</a:t>
            </a:r>
            <a:r>
              <a:rPr lang="en-US"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% of impressions that resulted in clicks.-</a:t>
            </a:r>
            <a:r>
              <a:rPr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 </a:t>
            </a:r>
            <a:r>
              <a:rPr lang="en-IN"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(Above industry benchmark)</a:t>
            </a:r>
          </a:p>
          <a:p>
            <a:r>
              <a:rPr lang="en-IN"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Conversion Rate</a:t>
            </a:r>
            <a:r>
              <a:rPr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:</a:t>
            </a:r>
            <a:r>
              <a:rPr lang="en-IN"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- </a:t>
            </a:r>
            <a:r>
              <a:rPr lang="en-US"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% of clicks that resulted in purchases.</a:t>
            </a:r>
            <a:endParaRPr lang="en-IN" sz="3600" dirty="0">
              <a:latin typeface="Angsana New" panose="02020503050405090304" pitchFamily="18" charset="-34"/>
              <a:cs typeface="Angsana New" panose="02020503050405090304" pitchFamily="18" charset="-34"/>
            </a:endParaRPr>
          </a:p>
          <a:p>
            <a:r>
              <a:rPr lang="en-IN"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Engagement - Total interactions.</a:t>
            </a:r>
          </a:p>
          <a:p>
            <a:r>
              <a:rPr lang="en-US"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Purchase Rate - % of impressions that resulted in purchases..</a:t>
            </a:r>
          </a:p>
          <a:p>
            <a:r>
              <a:rPr lang="en-IN"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Total Budget -  </a:t>
            </a:r>
            <a:r>
              <a:rPr lang="en-US"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Total spend allocated to campaigns.</a:t>
            </a:r>
          </a:p>
          <a:p>
            <a:r>
              <a:rPr lang="en-US"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Avg. Budget per Campaign - Average budget allocation per campaign.</a:t>
            </a:r>
          </a:p>
          <a:p>
            <a:endParaRPr lang="en-IN" sz="3600" dirty="0">
              <a:latin typeface="Angsana New" panose="02020503050405090304" pitchFamily="18" charset="-34"/>
              <a:cs typeface="Angsana New" panose="02020503050405090304" pitchFamily="18" charset="-3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314DA3-7567-4414-9636-182709B8B5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0000" r="988"/>
          <a:stretch/>
        </p:blipFill>
        <p:spPr>
          <a:xfrm>
            <a:off x="982132" y="1893468"/>
            <a:ext cx="7857067" cy="783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616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ER Diagram</a:t>
            </a:r>
            <a:endParaRPr dirty="0">
              <a:latin typeface="Algerian" panose="04020705040A02060702" pitchFamily="8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D6298D-0D5B-459A-8E3A-9E0C498248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86" t="4691" r="3246" b="15309"/>
          <a:stretch/>
        </p:blipFill>
        <p:spPr>
          <a:xfrm>
            <a:off x="739213" y="1727200"/>
            <a:ext cx="8190506" cy="489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032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Budget</a:t>
            </a:r>
            <a:r>
              <a:rPr dirty="0"/>
              <a:t> </a:t>
            </a:r>
            <a:r>
              <a:rPr dirty="0">
                <a:latin typeface="Algerian" panose="04020705040A02060702" pitchFamily="82" charset="0"/>
              </a:rP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Total Ad Spend: 2.5M</a:t>
            </a:r>
          </a:p>
          <a:p>
            <a:r>
              <a:rPr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Average Budget per Campaign: 50.7K</a:t>
            </a:r>
          </a:p>
          <a:p>
            <a:r>
              <a:rPr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Multiple campaigns executed simultaneously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009E34-6612-4CB2-BA62-BE6BD79EA6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296" t="50000"/>
          <a:stretch/>
        </p:blipFill>
        <p:spPr>
          <a:xfrm>
            <a:off x="2596445" y="1939777"/>
            <a:ext cx="4278490" cy="12532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Marketing Funnel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4780" y="2847622"/>
            <a:ext cx="7704667" cy="3332816"/>
          </a:xfrm>
        </p:spPr>
        <p:txBody>
          <a:bodyPr>
            <a:normAutofit/>
          </a:bodyPr>
          <a:lstStyle/>
          <a:p>
            <a:r>
              <a:rPr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Strong awareness and interest (High CTR &amp; Engagement)</a:t>
            </a:r>
          </a:p>
          <a:p>
            <a:r>
              <a:rPr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Significant drop-off at purchase stage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F8B655-6091-4E28-AEBD-CFF33A77CD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303" t="52467" r="33981"/>
          <a:stretch/>
        </p:blipFill>
        <p:spPr>
          <a:xfrm>
            <a:off x="4176888" y="2534585"/>
            <a:ext cx="2991555" cy="8581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BBA6FFE-9DFF-4FC3-B012-F7D6E94D25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2467" r="83796"/>
          <a:stretch/>
        </p:blipFill>
        <p:spPr>
          <a:xfrm>
            <a:off x="2695221" y="2570816"/>
            <a:ext cx="1481667" cy="8581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Engagement by Gender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23733" y="2438401"/>
            <a:ext cx="5520267" cy="3332816"/>
          </a:xfrm>
        </p:spPr>
        <p:txBody>
          <a:bodyPr>
            <a:normAutofit lnSpcReduction="10000"/>
          </a:bodyPr>
          <a:lstStyle/>
          <a:p>
            <a:r>
              <a:rPr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Female: 43% (Highest engagement)</a:t>
            </a:r>
          </a:p>
          <a:p>
            <a:r>
              <a:rPr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Male: 22%</a:t>
            </a:r>
          </a:p>
          <a:p>
            <a:r>
              <a:rPr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Other / Not Specified: 35%</a:t>
            </a:r>
          </a:p>
          <a:p>
            <a:r>
              <a:rPr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Female audience shows stronger response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578789-52C8-46DB-93E9-5EEA8E370A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75" t="35025" r="80865" b="39856"/>
          <a:stretch/>
        </p:blipFill>
        <p:spPr>
          <a:xfrm>
            <a:off x="620888" y="2844800"/>
            <a:ext cx="2683443" cy="20884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Engagement by Age Group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34465" y="2438401"/>
            <a:ext cx="4117623" cy="3332816"/>
          </a:xfrm>
        </p:spPr>
        <p:txBody>
          <a:bodyPr>
            <a:normAutofit lnSpcReduction="10000"/>
          </a:bodyPr>
          <a:lstStyle/>
          <a:p>
            <a:r>
              <a:rPr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Highest engagement from </a:t>
            </a:r>
            <a:endParaRPr lang="en-IN" sz="3600" dirty="0">
              <a:latin typeface="Angsana New" panose="02020503050405090304" pitchFamily="18" charset="-34"/>
              <a:cs typeface="Angsana New" panose="02020503050405090304" pitchFamily="18" charset="-34"/>
            </a:endParaRPr>
          </a:p>
          <a:p>
            <a:pPr marL="0" indent="0">
              <a:buNone/>
            </a:pPr>
            <a:r>
              <a:rPr lang="en-IN"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   </a:t>
            </a:r>
            <a:r>
              <a:rPr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20–30 age group</a:t>
            </a:r>
          </a:p>
          <a:p>
            <a:r>
              <a:rPr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Peak activity in early 20s</a:t>
            </a:r>
          </a:p>
          <a:p>
            <a:r>
              <a:rPr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Engagement declines after age 35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BA7E47-E8DF-4BBE-BD51-76985A1545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382" t="34381" r="50000" b="40286"/>
          <a:stretch/>
        </p:blipFill>
        <p:spPr>
          <a:xfrm>
            <a:off x="564444" y="2731911"/>
            <a:ext cx="4163877" cy="1981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Geographic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0934" y="4391378"/>
            <a:ext cx="6248400" cy="1981200"/>
          </a:xfrm>
        </p:spPr>
        <p:txBody>
          <a:bodyPr>
            <a:normAutofit lnSpcReduction="10000"/>
          </a:bodyPr>
          <a:lstStyle/>
          <a:p>
            <a:r>
              <a:rPr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Top countries: India, US, Brazil, Germany, UK</a:t>
            </a:r>
          </a:p>
          <a:p>
            <a:r>
              <a:rPr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India &amp; US drive volume and engagement</a:t>
            </a:r>
          </a:p>
          <a:p>
            <a:r>
              <a:rPr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Germany &amp; UK show higher purchasing power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8B4B91-3444-481A-9D19-A212B877E46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64" t="60358" r="50000" b="1963"/>
          <a:stretch/>
        </p:blipFill>
        <p:spPr>
          <a:xfrm>
            <a:off x="1540933" y="1825497"/>
            <a:ext cx="6062134" cy="24332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Weekly Engagement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33222" y="4314947"/>
            <a:ext cx="7704667" cy="1981201"/>
          </a:xfrm>
        </p:spPr>
        <p:txBody>
          <a:bodyPr>
            <a:normAutofit lnSpcReduction="10000"/>
          </a:bodyPr>
          <a:lstStyle/>
          <a:p>
            <a:r>
              <a:rPr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Consistent engagement across weeks</a:t>
            </a:r>
          </a:p>
          <a:p>
            <a:r>
              <a:rPr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No major volatility observed</a:t>
            </a:r>
          </a:p>
          <a:p>
            <a:r>
              <a:rPr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Campaigns maintain steady audience interest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F4BFFA-1FA1-4ED5-AE24-4A7E82A426A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000" t="58641" r="18519" b="21607"/>
          <a:stretch/>
        </p:blipFill>
        <p:spPr>
          <a:xfrm>
            <a:off x="1933222" y="1983458"/>
            <a:ext cx="5619045" cy="20272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Hourly Engagement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4889" y="4222274"/>
            <a:ext cx="7704667" cy="1789060"/>
          </a:xfrm>
        </p:spPr>
        <p:txBody>
          <a:bodyPr>
            <a:normAutofit fontScale="92500" lnSpcReduction="20000"/>
          </a:bodyPr>
          <a:lstStyle/>
          <a:p>
            <a:r>
              <a:rPr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Peak engagement between</a:t>
            </a:r>
            <a:r>
              <a:rPr lang="en-IN"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 12</a:t>
            </a:r>
            <a:r>
              <a:rPr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PM – 8 PM</a:t>
            </a:r>
          </a:p>
          <a:p>
            <a:r>
              <a:rPr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Low activity during early morning hours</a:t>
            </a:r>
          </a:p>
          <a:p>
            <a:r>
              <a:rPr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Ad scheduling should prioritize evening slots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5FAB8B-4BE2-43C7-9B62-D45CB10EAB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000" t="77321" r="18889" b="2499"/>
          <a:stretch/>
        </p:blipFill>
        <p:spPr>
          <a:xfrm>
            <a:off x="2144889" y="2006372"/>
            <a:ext cx="5311299" cy="1981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Ad Type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7985" y="3873367"/>
            <a:ext cx="5155571" cy="2782484"/>
          </a:xfrm>
        </p:spPr>
        <p:txBody>
          <a:bodyPr>
            <a:normAutofit fontScale="92500" lnSpcReduction="10000"/>
          </a:bodyPr>
          <a:lstStyle/>
          <a:p>
            <a:r>
              <a:rPr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Video</a:t>
            </a:r>
            <a:r>
              <a:rPr lang="en-IN"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 &amp; Story</a:t>
            </a:r>
            <a:r>
              <a:rPr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 Ads: Highest CTR, Conversion &amp; Engagement</a:t>
            </a:r>
            <a:endParaRPr lang="en-IN" sz="3600" dirty="0">
              <a:latin typeface="Angsana New" panose="02020503050405090304" pitchFamily="18" charset="-34"/>
              <a:cs typeface="Angsana New" panose="02020503050405090304" pitchFamily="18" charset="-34"/>
            </a:endParaRPr>
          </a:p>
          <a:p>
            <a:r>
              <a:rPr lang="en-IN"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Story Ads – Highest Purchase Rate</a:t>
            </a:r>
            <a:endParaRPr sz="3600" dirty="0">
              <a:latin typeface="Angsana New" panose="02020503050405090304" pitchFamily="18" charset="-34"/>
              <a:cs typeface="Angsana New" panose="02020503050405090304" pitchFamily="18" charset="-34"/>
            </a:endParaRPr>
          </a:p>
          <a:p>
            <a:r>
              <a:rPr lang="en-IN"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Carousel &amp; </a:t>
            </a:r>
            <a:r>
              <a:rPr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Stories Ads: Strong impressions and </a:t>
            </a:r>
            <a:r>
              <a:rPr lang="en-IN"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reach.</a:t>
            </a:r>
            <a:endParaRPr sz="3600" dirty="0">
              <a:latin typeface="Angsana New" panose="02020503050405090304" pitchFamily="18" charset="-34"/>
              <a:cs typeface="Angsana New" panose="02020503050405090304" pitchFamily="18" charset="-3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49B568-C810-489E-A732-3B3E5B98F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7985" y="1886295"/>
            <a:ext cx="4696031" cy="20648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Best Performing Formats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0488" y="4255912"/>
            <a:ext cx="7704667" cy="2144887"/>
          </a:xfrm>
        </p:spPr>
        <p:txBody>
          <a:bodyPr>
            <a:normAutofit/>
          </a:bodyPr>
          <a:lstStyle/>
          <a:p>
            <a:r>
              <a:rPr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Video ads deliver best overall ROI</a:t>
            </a:r>
          </a:p>
          <a:p>
            <a:r>
              <a:rPr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Stories ads effective for reach &amp; visibility</a:t>
            </a:r>
          </a:p>
          <a:p>
            <a:r>
              <a:rPr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Budget should prioritize these formats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3D37E6-99C4-498E-94F0-C0373CBC8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258" y="1802972"/>
            <a:ext cx="5571575" cy="24529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753192"/>
            <a:ext cx="4560711" cy="3332816"/>
          </a:xfrm>
        </p:spPr>
        <p:txBody>
          <a:bodyPr>
            <a:normAutofit/>
          </a:bodyPr>
          <a:lstStyle/>
          <a:p>
            <a:r>
              <a:rPr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Creatives and targeting are highly effective</a:t>
            </a:r>
            <a:r>
              <a:rPr lang="en-IN"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.</a:t>
            </a:r>
            <a:endParaRPr sz="3600" dirty="0">
              <a:latin typeface="Angsana New" panose="02020503050405090304" pitchFamily="18" charset="-34"/>
              <a:cs typeface="Angsana New" panose="02020503050405090304" pitchFamily="18" charset="-34"/>
            </a:endParaRPr>
          </a:p>
          <a:p>
            <a:r>
              <a:rPr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Audience engagement is strong</a:t>
            </a:r>
            <a:r>
              <a:rPr lang="en-IN"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.</a:t>
            </a:r>
            <a:endParaRPr sz="3600" dirty="0">
              <a:latin typeface="Angsana New" panose="02020503050405090304" pitchFamily="18" charset="-34"/>
              <a:cs typeface="Angsana New" panose="02020503050405090304" pitchFamily="18" charset="-34"/>
            </a:endParaRPr>
          </a:p>
          <a:p>
            <a:r>
              <a:rPr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Conversion efficiency needs improvement</a:t>
            </a:r>
            <a:r>
              <a:rPr lang="en-IN"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.</a:t>
            </a:r>
            <a:endParaRPr sz="3600" dirty="0">
              <a:latin typeface="Angsana New" panose="02020503050405090304" pitchFamily="18" charset="-34"/>
              <a:cs typeface="Angsana New" panose="02020503050405090304" pitchFamily="18" charset="-3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CF857C-ED41-4F04-82B7-F5145673F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6044" y="2885722"/>
            <a:ext cx="3067755" cy="30677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4684889" cy="3332816"/>
          </a:xfrm>
        </p:spPr>
        <p:txBody>
          <a:bodyPr>
            <a:normAutofit/>
          </a:bodyPr>
          <a:lstStyle/>
          <a:p>
            <a:r>
              <a:rPr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Optimize landing pages and checkout flow</a:t>
            </a:r>
          </a:p>
          <a:p>
            <a:r>
              <a:rPr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Increase spend on Video &amp; Stories ads</a:t>
            </a:r>
          </a:p>
          <a:p>
            <a:r>
              <a:rPr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Focus on Females aged 18–30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8B4BC1-3583-49B4-BA94-FEC9E1D8CD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6222" y="3098393"/>
            <a:ext cx="3421943" cy="2636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858911"/>
            <a:ext cx="7704667" cy="3332816"/>
          </a:xfrm>
        </p:spPr>
        <p:txBody>
          <a:bodyPr>
            <a:normAutofit/>
          </a:bodyPr>
          <a:lstStyle/>
          <a:p>
            <a:r>
              <a:rPr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Dashboard shows strong campaign awareness &amp; engagement</a:t>
            </a:r>
          </a:p>
          <a:p>
            <a:r>
              <a:rPr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Data-driven optimizations can improve ROI</a:t>
            </a:r>
          </a:p>
          <a:p>
            <a:r>
              <a:rPr sz="3600" dirty="0">
                <a:latin typeface="Angsana New" panose="02020503050405090304" pitchFamily="18" charset="-34"/>
                <a:cs typeface="Angsana New" panose="02020503050405090304" pitchFamily="18" charset="-34"/>
              </a:rPr>
              <a:t>Power BI enables actionable marketing insights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C9ACB8-E87B-4B58-A121-948531901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816" y="3616610"/>
            <a:ext cx="2355184" cy="181741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EF740-5038-413D-A247-6562576B2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0177" y="2404535"/>
            <a:ext cx="7704667" cy="1981200"/>
          </a:xfrm>
        </p:spPr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THANK YOU !!!</a:t>
            </a:r>
          </a:p>
        </p:txBody>
      </p:sp>
    </p:spTree>
    <p:extLst>
      <p:ext uri="{BB962C8B-B14F-4D97-AF65-F5344CB8AC3E}">
        <p14:creationId xmlns:p14="http://schemas.microsoft.com/office/powerpoint/2010/main" val="3884827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1638</TotalTime>
  <Words>467</Words>
  <Application>Microsoft Office PowerPoint</Application>
  <PresentationFormat>On-screen Show (4:3)</PresentationFormat>
  <Paragraphs>82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Batang</vt:lpstr>
      <vt:lpstr>Algerian</vt:lpstr>
      <vt:lpstr>Angsana New</vt:lpstr>
      <vt:lpstr>Arial</vt:lpstr>
      <vt:lpstr>Calibri</vt:lpstr>
      <vt:lpstr>Corbel</vt:lpstr>
      <vt:lpstr>Parallax</vt:lpstr>
      <vt:lpstr>Social Media Ad Performance Dashboard</vt:lpstr>
      <vt:lpstr>Agenda</vt:lpstr>
      <vt:lpstr>Business Context</vt:lpstr>
      <vt:lpstr>SOCIAL MEDIA Ad Performance Dashboard – Overview</vt:lpstr>
      <vt:lpstr>KPI Snapshot</vt:lpstr>
      <vt:lpstr>Efficiency Metrics</vt:lpstr>
      <vt:lpstr>ER Diagram</vt:lpstr>
      <vt:lpstr>Budget Overview</vt:lpstr>
      <vt:lpstr>Marketing Funnel Performance</vt:lpstr>
      <vt:lpstr>Engagement by Gender</vt:lpstr>
      <vt:lpstr>Engagement by Age Group</vt:lpstr>
      <vt:lpstr>Geographic Performance</vt:lpstr>
      <vt:lpstr>Weekly Engagement Trends</vt:lpstr>
      <vt:lpstr>Hourly Engagement Trends</vt:lpstr>
      <vt:lpstr>Ad Type Performance</vt:lpstr>
      <vt:lpstr>Best Performing Formats</vt:lpstr>
      <vt:lpstr>Key Insights</vt:lpstr>
      <vt:lpstr>Strategic Recommendations</vt:lpstr>
      <vt:lpstr>Conclusion</vt:lpstr>
      <vt:lpstr>THANK YOU !!!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Meta Social Media Ad Performance Dashboard</dc:title>
  <dc:subject/>
  <dc:creator/>
  <cp:keywords/>
  <dc:description>generated using python-pptx</dc:description>
  <cp:lastModifiedBy>User</cp:lastModifiedBy>
  <cp:revision>27</cp:revision>
  <dcterms:created xsi:type="dcterms:W3CDTF">2013-01-27T09:14:16Z</dcterms:created>
  <dcterms:modified xsi:type="dcterms:W3CDTF">2026-01-11T13:40:24Z</dcterms:modified>
  <cp:category/>
</cp:coreProperties>
</file>